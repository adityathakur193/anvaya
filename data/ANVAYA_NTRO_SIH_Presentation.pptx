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4D399"/>
                </a:solidFill>
              </a:defRPr>
            </a:pPr>
            <a:r>
              <a:t>PROJECT ANVAYA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100% Air-Gapped Multimodal RAG Engine for Defense &amp; Intelligence Analysis</a:t>
            </a:r>
          </a:p>
          <a:p>
            <a:br/>
            <a:pPr>
              <a:defRPr sz="1400">
                <a:solidFill>
                  <a:srgbClr val="F1F5F9"/>
                </a:solidFill>
              </a:defRPr>
            </a:pPr>
            <a:r>
              <a:t>Nodal Agency: National Technical Research Organisation (NTRO) / PMO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Problem Statement: SIH25231 / SIH26154 | Category: Air-Gapped AI &amp; Cyber Security</a:t>
            </a:r>
          </a:p>
          <a:p>
            <a:br/>
            <a:pPr>
              <a:defRPr sz="1400" b="1">
                <a:solidFill>
                  <a:srgbClr val="F1F5F9"/>
                </a:solidFill>
              </a:defRPr>
            </a:pPr>
            <a:r>
              <a:t>Team Lead: Aditya Thakur (Lead / AI Systems Architect)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Institution: GITAM Deemed University, Visakhapatnam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NTRO / PMO DEFENSE BRIEFING</a:t>
            </a:r>
          </a:p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Operational Ground Realities &amp; Defense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59E0B"/>
                </a:solidFill>
              </a:defRPr>
            </a:pPr>
            <a:r>
              <a:t>OPERATIONAL CHALLENGES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1. Strict Air-Gap Mandate:</a:t>
            </a:r>
            <a:br/>
            <a:r>
              <a:t>Zero cloud API calls permitted. Commercial LLMs (OpenAI, Gemini) violate defense protocols.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2. Multimodal Fragmentation:</a:t>
            </a:r>
            <a:br/>
            <a:r>
              <a:t>Evidence arrives as audio wiretaps (.wav), scanned PDF reports, and drone images.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3. Cross-Document Data Bleed:</a:t>
            </a:r>
            <a:br/>
            <a:r>
              <a:t>Global vector databases mix Case A wiretaps with Case B financial audits.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4. Hardware Constraints:</a:t>
            </a:r>
            <a:br/>
            <a:r>
              <a:t>Must run on standard 8GB / 16GB RAM defense laptops without expensive GPUs.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4D399"/>
                </a:solidFill>
              </a:defRPr>
            </a:pPr>
            <a:r>
              <a:t>ANVAYA'S DIRECT SOLUTION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1. 100% Offline Local Engine:</a:t>
            </a:r>
            <a:br/>
            <a:r>
              <a:t>Powered by local Ollama Llama 3.1 8B &amp; BAAI/bge-small-en embeddings.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2. Unified Ingestion Pipeline:</a:t>
            </a:r>
            <a:br/>
            <a:r>
              <a:t>PyMuPDF Layout + EasyOCR/BLIP Vision + Faster-Whisper INT8 VAD Speech.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3. Multi-Case Workspace Isolation:</a:t>
            </a:r>
            <a:br/>
            <a:r>
              <a:t>Metadata case_id &amp; document-scoped filtering guarantee zero data contamination.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4. Optimized CPU Footprint:</a:t>
            </a:r>
            <a:br/>
            <a:r>
              <a:t>Runs on 8GB RAM CPU at 3-5s response latency with zero GPU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NTRO / PMO DEFENSE BRIEFING</a:t>
            </a:r>
          </a:p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System Architecture &amp; 4-Tier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D399"/>
                </a:solidFill>
              </a:defRPr>
            </a:pPr>
            <a:r>
              <a:t>TIER 1: MULTIMODAL INGESTION LAYER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PDFParser: PyMuPDF spatial block layout analysis &amp; markdown table reconstruction</a:t>
            </a:r>
            <a:br/>
            <a:r>
              <a:t>• ImageOCRParser: EasyOCR text recognition + Salesforce BLIP scene captioning for drone shots</a:t>
            </a:r>
            <a:br/>
            <a:r>
              <a:t>• AudioTranscriber: Faster-Whisper INT8 CPU engine with Voice Activity Detection (vad_filter=True)</a:t>
            </a:r>
          </a:p>
          <a:p>
            <a:br/>
            <a:pPr>
              <a:defRPr b="1" sz="1400">
                <a:solidFill>
                  <a:srgbClr val="F59E0B"/>
                </a:solidFill>
              </a:defRPr>
            </a:pPr>
            <a:r>
              <a:t>TIER 2: DEDUPLICATION &amp; HYBRID VECTOR STORE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64-Bit SimHash Bitwise Deduplication (Hamming distance h &lt;= 3) to drop duplicate files</a:t>
            </a:r>
            <a:br/>
            <a:r>
              <a:t>• ChromaDB Dense Vector Search (BAAI/bge-small-en-v1.5 133MB offline embeddings)</a:t>
            </a:r>
            <a:br/>
            <a:r>
              <a:t>• SQLite FTS5 BM25 Lexical Keyword Search with WAL mode thread safety</a:t>
            </a:r>
          </a:p>
          <a:p>
            <a:br/>
            <a:pPr>
              <a:defRPr b="1" sz="1400">
                <a:solidFill>
                  <a:srgbClr val="34D399"/>
                </a:solidFill>
              </a:defRPr>
            </a:pPr>
            <a:r>
              <a:t>TIER 3: HYBRID RERANKING &amp; LOCAL SYNTHESIS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Reciprocal Rank Fusion (RRF k=60) + 5x Filename RRF Score Boost for target file queries</a:t>
            </a:r>
            <a:br/>
            <a:r>
              <a:t>• LocalLLMEngine: Ollama Llama 3.1 8B @ Temp 0.0 with source-anchored system prompts</a:t>
            </a:r>
          </a:p>
          <a:p>
            <a:br/>
            <a:pPr>
              <a:defRPr b="1" sz="1400">
                <a:solidFill>
                  <a:srgbClr val="F59E0B"/>
                </a:solidFill>
              </a:defRPr>
            </a:pPr>
            <a:r>
              <a:t>TIER 4: ANALYST CONSOLE &amp; VISUAL CANVAS VIEWER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Vite React Console + Real-time 3-Stage Progress Bar + PyMuPDF Yellow Marker Page Canvas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NTRO / PMO DEFENSE BRIEFING</a:t>
            </a:r>
          </a:p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Key Technical Innovations &amp; Competitive USPs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4D399"/>
                </a:solidFill>
              </a:defRPr>
            </a:pPr>
            <a:r>
              <a:t>1. 64-Bit SimHash Deduplication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Calculates 64-bit feature fingerprints. Skips duplicate files (h &lt;= 3), saving 90% vector DB bloat.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371600"/>
            <a:ext cx="512064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2. Reciprocal Rank Fusion (RRF)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Combines dense vector similarity + BM25 keyword search. RRF score: RRF = 1 / (60 + rank).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512064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4D399"/>
                </a:solidFill>
              </a:defRPr>
            </a:pPr>
            <a:r>
              <a:t>3. 5x Filename Score Boost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Auto-detects file terms in query ('harvard', 'resume') and applies 5x boost to rank target file #1.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017520"/>
            <a:ext cx="512064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4. Yellow Marker Page Canvas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PyMuPDF draws bright yellow marker highlights over query terms on the rendered document image.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512064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4D399"/>
                </a:solidFill>
              </a:defRPr>
            </a:pPr>
            <a:r>
              <a:t>5. Multi-Case Workspace Isolation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Strict case_id metadata &amp; document-scoped filtering prevent cross-case data contamination.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663440"/>
            <a:ext cx="512064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6. Zero PII Refusal Guidance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Authoritative system prompt overrides Meta chatbot PII refusals on authorized defense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NTRO / PMO DEFENSE BRIEFING</a:t>
            </a:r>
          </a:p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Hardware Performance &amp; Air-Gap Compliance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4D399"/>
                </a:solidFill>
              </a:defRPr>
            </a:pPr>
            <a:r>
              <a:t>HARDWARE &amp; PERFORMANCE BENCHMARK (TESTED ON STANDARD 16GB RAM LAPTOP)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Total RAM Footprint: ~2.4 GB Total (ChromaDB + BAAI 133MB + Whisper INT8 140MB + Llama 3.1 8B)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Response Latency: 3 - 5 Seconds per Intelligence Synthesis Query on CPU (num_predict: 250)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Ingestion Throughput: ~1.2s per PDF page, ~4.5s for 60-second WAV audio transcript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Vector DB Scaling: Sub-10ms query lookup across 10,000+ chunk embeddings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Air-Gap Compliance: 100% Offline. Zero external HTTP requests, zero telemetry, zero cloud sockets.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GPU Dependency: 0% GPU required. Fully optimized for CPU execution via INT8 quantization.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NTRO / PMO DEFENSE BRIEFING</a:t>
            </a:r>
          </a:p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Security Analyst Demo Suite &amp; Grounded Proof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59E0B"/>
                </a:solidFill>
              </a:defRPr>
            </a:pPr>
            <a:r>
              <a:t>DEMO CASE TEST SCENARIOS (Located in data/sample_case/)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1. Intercepted Audio Wiretap (01_INTERCEPTED_WIRETAP_AUDIO.wav):</a:t>
            </a:r>
            <a:br/>
            <a:r>
              <a:t>   Query: 'What timestamp mentioned Harvard List No 1?' -&gt; Returns exact timestamp 5.81s-15.5s with clickable audio pill.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2. Classified Intelligence Report (02_CLASSIFIED_INTELLIGENCE_REPORT.pdf):</a:t>
            </a:r>
            <a:br/>
            <a:r>
              <a:t>   Query: 'What is the critical path duration and location of Operation Vajra?' -&gt; Returns Visakhapatnam Port, 10 Days PERT schedule.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3. Drone Surveillance Shot (03_DRONE_SURVEILLANCE_SHOT.png):</a:t>
            </a:r>
            <a:br/>
            <a:r>
              <a:t>   Query: 'What vehicle is detected in the drone image?' -&gt; Returns Container Truck AP-31-TX-9021 via EasyOCR + BLIP.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4. Visual Yellow Marker Proof Navigation:</a:t>
            </a:r>
            <a:br/>
            <a:r>
              <a:t>   Clicking any citation button displays the real PDF page image canvas with bright yellow marker highlights over query terms.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NTRO / PMO DEFENSE BRIEFING</a:t>
            </a:r>
          </a:p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Future Escalation &amp; Strategic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4D399"/>
                </a:solidFill>
              </a:defRPr>
            </a:pPr>
            <a:r>
              <a:t>STRATEGIC EXPANSION FOR NTRO DEPLOYMENT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Phase 1 (Current State - 100% Operational):</a:t>
            </a:r>
            <a:br/>
            <a:r>
              <a:t>  Air-Gapped Multimodal RAG, RRF Search, Visual Yellow Marker Canvas, Multi-Case Workspace Isolation.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Phase 2 (Near-Term Deployment):</a:t>
            </a:r>
            <a:br/>
            <a:r>
              <a:t>  Automated PDF Intelligence Briefing Export, Interactive Audio Playback Waveform Widget, Multi-Language Speech (Hindi/Regional).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Phase 3 (Defense Enterprise Scale):</a:t>
            </a:r>
            <a:br/>
            <a:r>
              <a:t>  Air-Gapped Multi-Node Cluster Scaling for Defense High-Performance Computing (HPC)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